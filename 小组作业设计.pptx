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460" r:id="rId3"/>
    <p:sldId id="461" r:id="rId4"/>
    <p:sldId id="462" r:id="rId5"/>
    <p:sldId id="463" r:id="rId6"/>
    <p:sldId id="474" r:id="rId7"/>
    <p:sldId id="475" r:id="rId8"/>
    <p:sldId id="473" r:id="rId9"/>
    <p:sldId id="464" r:id="rId10"/>
    <p:sldId id="466" r:id="rId11"/>
    <p:sldId id="467" r:id="rId12"/>
    <p:sldId id="468" r:id="rId13"/>
    <p:sldId id="469" r:id="rId14"/>
    <p:sldId id="465" r:id="rId15"/>
    <p:sldId id="472" r:id="rId16"/>
    <p:sldId id="470" r:id="rId17"/>
    <p:sldId id="471" r:id="rId18"/>
    <p:sldId id="477" r:id="rId1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0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327" y="42"/>
      </p:cViewPr>
      <p:guideLst>
        <p:guide orient="horz" pos="2160"/>
        <p:guide pos="2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C80E8E50-E926-4482-9BA1-408C301348A3}" type="datetime1">
              <a:rPr lang="zh-CN" altLang="en-US"/>
            </a:fld>
            <a:endParaRPr lang="en-US" altLang="zh-CN"/>
          </a:p>
        </p:txBody>
      </p:sp>
      <p:sp>
        <p:nvSpPr>
          <p:cNvPr id="72708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>
              <a:defRPr/>
            </a:pPr>
            <a:r>
              <a:rPr lang="zh-CN" altLang="en-US"/>
              <a:t>第二级</a:t>
            </a:r>
            <a:endParaRPr lang="zh-CN" altLang="en-US"/>
          </a:p>
          <a:p>
            <a:pPr>
              <a:defRPr/>
            </a:pPr>
            <a:r>
              <a:rPr lang="zh-CN" altLang="en-US"/>
              <a:t>第三级</a:t>
            </a:r>
            <a:endParaRPr lang="zh-CN" altLang="en-US"/>
          </a:p>
          <a:p>
            <a:pPr>
              <a:defRPr/>
            </a:pPr>
            <a:r>
              <a:rPr lang="zh-CN" altLang="en-US"/>
              <a:t>第四级</a:t>
            </a:r>
            <a:endParaRPr lang="zh-CN" altLang="en-US"/>
          </a:p>
          <a:p>
            <a:pPr>
              <a:defRPr/>
            </a:pPr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4FC5454D-1248-40CB-A5E1-D54C2CD2D9C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8CE64-E789-4365-9814-81BB3E8911DB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5D4E7D-5BF2-4B5E-AB96-B6928900364E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F0607-F798-406C-BF3F-C3627B6C2567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0C0947-CA36-4474-944C-ED7F4815F8D4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B1F3F-EFCB-4505-963E-7A0E67EDFD2C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CBF7F-5D77-4077-9EF5-DF74FD437ACC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D316D-8BCB-43EB-B01B-13845EA02C98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97F15-76BD-41BA-8B2A-B8363AEE2473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CCC32-FBD8-430F-A2BA-FE2E868D1AC5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5E5DE-D841-4E05-8D09-B482B8800ABA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D877A-9A28-4FF7-827D-182F55B1F72A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8C1C00-B837-41D2-84AC-DF58B35FA38C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36667-C92E-4704-8685-B5B970D57996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FD0C0-0655-4B0A-8D2C-59B3ED36CBC0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6AB4D-135B-4553-8CEB-E752D00093A7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A2F07-91F9-4A7A-8B78-B3E6C5E20185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49708-B7D2-451D-B0A4-9498740C6B52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B5605-7887-4BF9-BC77-4E5BFA7EA6CF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96CE9-92A8-42D9-814C-002DDAFADB9C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927FE-66B4-4DBB-967B-5859F354C3F8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61C51-D309-4FC3-AEBC-586E5DEC375F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E2F562-B307-4345-A308-54BFB75A19D3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A52C0-08F7-47AD-A205-679FE96654CB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03AC4-159E-449B-A0E4-C54D1D5B8863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800" dirty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800" dirty="0"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>
                <a:sym typeface="Calibri" panose="020F0502020204030204" pitchFamily="34" charset="0"/>
              </a:rPr>
              <a:t>单击此处编辑母版标题样式</a:t>
            </a:r>
            <a:endParaRPr lang="zh-CN" altLang="en-US">
              <a:sym typeface="Calibri" panose="020F0502020204030204" pitchFamily="34" charset="0"/>
            </a:endParaRP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>
                <a:sym typeface="Calibri" panose="020F0502020204030204" pitchFamily="34" charset="0"/>
              </a:rPr>
              <a:t>单击此处编辑母版文本样式</a:t>
            </a:r>
            <a:endParaRPr lang="zh-CN" altLang="en-US" dirty="0">
              <a:sym typeface="Calibri" panose="020F0502020204030204" pitchFamily="34" charset="0"/>
            </a:endParaRPr>
          </a:p>
          <a:p>
            <a:pPr lvl="1"/>
            <a:r>
              <a:rPr lang="zh-CN" altLang="en-US" dirty="0">
                <a:sym typeface="Calibri" panose="020F0502020204030204" pitchFamily="34" charset="0"/>
              </a:rPr>
              <a:t>第二级</a:t>
            </a:r>
            <a:endParaRPr lang="zh-CN" altLang="en-US" dirty="0">
              <a:sym typeface="Calibri" panose="020F0502020204030204" pitchFamily="34" charset="0"/>
            </a:endParaRPr>
          </a:p>
          <a:p>
            <a:pPr lvl="2"/>
            <a:r>
              <a:rPr lang="zh-CN" altLang="en-US" dirty="0">
                <a:sym typeface="Calibri" panose="020F0502020204030204" pitchFamily="34" charset="0"/>
              </a:rPr>
              <a:t>第三级</a:t>
            </a:r>
            <a:endParaRPr lang="zh-CN" altLang="en-US" dirty="0">
              <a:sym typeface="Calibri" panose="020F0502020204030204" pitchFamily="34" charset="0"/>
            </a:endParaRPr>
          </a:p>
          <a:p>
            <a:pPr lvl="3"/>
            <a:r>
              <a:rPr lang="zh-CN" altLang="en-US" dirty="0">
                <a:sym typeface="Calibri" panose="020F0502020204030204" pitchFamily="34" charset="0"/>
              </a:rPr>
              <a:t>第四级</a:t>
            </a:r>
            <a:endParaRPr lang="zh-CN" altLang="en-US" dirty="0">
              <a:sym typeface="Calibri" panose="020F0502020204030204" pitchFamily="34" charset="0"/>
            </a:endParaRPr>
          </a:p>
          <a:p>
            <a:pPr lvl="4"/>
            <a:r>
              <a:rPr lang="zh-CN" altLang="en-US" dirty="0">
                <a:sym typeface="Calibri" panose="020F0502020204030204" pitchFamily="34" charset="0"/>
              </a:rPr>
              <a:t>第五级</a:t>
            </a:r>
            <a:endParaRPr lang="zh-CN" altLang="en-US" dirty="0">
              <a:sym typeface="Calibri" panose="020F0502020204030204" pitchFamily="34" charset="0"/>
            </a:endParaRP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4A4F121-1216-4D5D-A5BF-7B2B1A123BC9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EF44E4E-6528-4716-87BC-BEB66A7B84C7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036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</a:rPr>
              <a:t>一、课程设计目标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0860" y="1587500"/>
            <a:ext cx="8151495" cy="5378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3-4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人小组为单位，基于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C++ / Qt / GDAL / OpenCV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设计一个工程化遥感影像处理系统。系统不仅要能运行，还要体现合理的数据模型、模块划分、接口设计和扩展能力。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5310" y="2277110"/>
            <a:ext cx="582803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全面掌握以下核心概念：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类的设计与封装（访问控制、构造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析构）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继承与多态（虚函数、纯虚函数、抽象类）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模板编程（类模板、函数模板）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运算符重载（算术、比较、类型转换、下标）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STL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容器与算法（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vector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map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set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algorithm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智能指针与内存管理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异常处理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Qt GUI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OpenCV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7592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</a:rPr>
              <a:t>二、系统总体架构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1320" y="1841500"/>
            <a:ext cx="1959610" cy="1460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en-US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表现层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Qt MainWindow
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图层树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菜单栏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二维影像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三维场景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运行日志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34920" y="1841500"/>
            <a:ext cx="1841500" cy="1460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数据模型层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DataObject
RasterLayer
DemLayer
PointCloud / Mesh</a:t>
            </a:r>
            <a:endParaRPr lang="en-US" altLang="zh-CN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35170" y="1844675"/>
            <a:ext cx="2107565" cy="1460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算法处理层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ProcessingAlgorithm
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影像增强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特征提取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DEM /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正射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802120" y="1841500"/>
            <a:ext cx="1841500" cy="1460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en-US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与工程层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GDAL / OpenCV
DataIO / RasterIO
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日志与异常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CMake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3555" y="3500755"/>
            <a:ext cx="7721600" cy="16916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推荐采用分层结构：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界面层只负责交互与调度；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数据模型层描述影像、波段、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、点云等对象；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算法层通过统一接口扩展；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层负责文件读取与格式适配。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4195" y="5553075"/>
            <a:ext cx="7996555" cy="460375"/>
          </a:xfrm>
          <a:prstGeom prst="rect">
            <a:avLst/>
          </a:prstGeom>
          <a:solidFill>
            <a:srgbClr val="EAF7FA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设计原则：新增一个算法或一种数据类型时，优先通过新类、新模块和统一接口接入。</a:t>
            </a:r>
            <a:endParaRPr lang="zh-CN" altLang="en-US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</a:rPr>
              <a:t>三、核心类与模块建议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467360" y="1551305"/>
          <a:ext cx="8229600" cy="3979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520"/>
                <a:gridCol w="4261485"/>
                <a:gridCol w="2347595"/>
              </a:tblGrid>
              <a:tr h="445135"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</a:t>
                      </a:r>
                      <a:r>
                        <a:rPr lang="en-US" altLang="zh-CN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职责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</a:t>
                      </a:r>
                      <a:r>
                        <a:rPr lang="en-US" altLang="zh-CN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C++ </a:t>
                      </a: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知识点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</a:tr>
              <a:tr h="588645"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DataObject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抽象基类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统一表示影像、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、点云、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Mesh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等图层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抽象类、虚函数、多态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89915"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RasterLayer / RasterBand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表示多波段遥感影像，支持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RGB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合成与单波段显示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封装、组合、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STL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容器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ProcessingAlgorithm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所有影像处理算法的统一接口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继承、多态、接口设计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89280"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LayerManager&lt;T&gt;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统一管理不同图层对象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类模板、智能指针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RasterIO / DataIO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隔离文件读取、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GDAL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调用、点云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/Mesh/DEM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解析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异常处理、模块化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89280"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MainWindow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只负责菜单、图层树、状态刷新与调用流程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Qt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信号槽、工程编排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四、基础功能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6000" y="1714500"/>
            <a:ext cx="3429000" cy="1460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遥感数据加载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GDAL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GeoTIFF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等栅格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左侧图层树显示数据集与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Band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RGB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合成、单波段灰度显示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89500" y="1714500"/>
            <a:ext cx="3429000" cy="1460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二维影像浏览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加载、显示、缩放、平移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当前三波段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当前单波段处理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结果图层分类管理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16000" y="3619500"/>
            <a:ext cx="3429000" cy="1460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基础影像处理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灰度化、直方图、均衡化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Canny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边缘、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ORB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简单分类与目标检测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89500" y="3619500"/>
            <a:ext cx="3429000" cy="1460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三维与摄影测量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点云、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Mesh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DEM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重建与正射校正演示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三维视图切换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16000" y="5461000"/>
            <a:ext cx="7375525" cy="5683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课程项目可以在此基础上扩展，也可以重新设计界面与模块，但应保留清晰的工程结构。</a:t>
            </a:r>
            <a:endParaRPr lang="zh-CN" altLang="en-US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四、基础功能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07745" y="1520825"/>
            <a:ext cx="7375525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r>
              <a:rPr lang="en-US" alt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</a:t>
            </a:r>
            <a:endParaRPr lang="en-US" altLang="zh-CN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990" y="1842770"/>
            <a:ext cx="7263857" cy="42912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四、基础功能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07745" y="1520825"/>
            <a:ext cx="7375525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r>
              <a:rPr lang="en-US" alt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</a:t>
            </a:r>
            <a:endParaRPr lang="en-US" altLang="zh-CN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842770"/>
            <a:ext cx="7277504" cy="4291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四、基础功能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07745" y="1520825"/>
            <a:ext cx="7375525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r>
              <a:rPr lang="en-US" alt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</a:t>
            </a:r>
            <a:endParaRPr lang="en-US" altLang="zh-CN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842770"/>
            <a:ext cx="7262495" cy="42894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</a:rPr>
              <a:t>五、基础任务要求</a:t>
            </a:r>
            <a:endParaRPr lang="en-US" altLang="zh-CN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95605" y="1628775"/>
          <a:ext cx="8382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302000"/>
                <a:gridCol w="3746500"/>
              </a:tblGrid>
              <a:tr h="427355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方向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最低要求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建议实现方式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</a:tr>
              <a:tr h="59944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工程框架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Qt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主窗口、菜单栏、图层树、日志窗口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QMainWindow + QTreeWidget + QTextEdit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9944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数据模型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影像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波段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/DEM/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点云至少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2-3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种对象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继承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DataObject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或自定义抽象基类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影像加载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支持至少一种真实遥感栅格格式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推荐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GDAL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；普通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JPG/PNG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不算完整遥感影像加载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98805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影像浏览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缩放、平移、适应窗口、图层显示隐藏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自定义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View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QGraphicsView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基础算法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至少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3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个二维影像处理功能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直方图、均衡化、边缘、分类、特征等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9944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工程质量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命名规范、异常处理、模块划分、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CMake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不要把所有逻辑写在一个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cpp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文件中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六、进阶方向</a:t>
            </a:r>
            <a:r>
              <a:rPr lang="en-US" altLang="zh-CN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</a:t>
            </a:r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：遥感影像处理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90600" y="1714500"/>
            <a:ext cx="2349500" cy="1651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多波段与设色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真彩色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假彩色组合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单波段拉伸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伪彩色表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NoData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32200" y="1714500"/>
            <a:ext cx="2349500" cy="1651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遥感指数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NDVI / NDWI / NDBI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指数阈值分割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指数统计与导出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多时相对比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73800" y="1714500"/>
            <a:ext cx="2349500" cy="1651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分类与目标检测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K-Means / SVM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地物分类结果图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连通域检测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精度评价矩阵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90600" y="3873500"/>
            <a:ext cx="2349500" cy="1651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图像增强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百分比拉伸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CLAHE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滤波降噪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锐化与边缘增强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32200" y="3873500"/>
            <a:ext cx="2349500" cy="1651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配准与镶嵌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特征匹配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RANSAC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估计变换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影像裁剪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重采样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简单拼接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73800" y="3873500"/>
            <a:ext cx="2349500" cy="1651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成果输出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GeoTIFF/PNG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统计表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CSV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处理日志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可视化报告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0264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七、进阶方向</a:t>
            </a:r>
            <a:r>
              <a:rPr lang="en-US" altLang="zh-CN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</a:t>
            </a:r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：摄影测量、点云与三维、打包安装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8360" y="1676400"/>
            <a:ext cx="7940040" cy="5683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如果小组对三维重建、摄影测量或计算机视觉更感兴趣，可以选择以下方向。建议使用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OpenCV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PCL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Open3D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CGAL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MeshLab/CloudCompare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等成熟工具或库。</a:t>
            </a:r>
            <a:endParaRPr lang="zh-CN" altLang="en-US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889000" y="2476500"/>
          <a:ext cx="7792085" cy="435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3810000"/>
                <a:gridCol w="2331085"/>
              </a:tblGrid>
              <a:tr h="544195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方向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可做内容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成果形式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</a:tr>
              <a:tr h="544195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+mn-ea"/>
                        </a:rPr>
                        <a:t>影像匹配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SIFT/ORB/AKAZE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特征、匹配筛选、内点率评估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匹配结果图、日志报告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44195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相对定向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/ SfM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基础矩阵、本质矩阵、相机姿态恢复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相机位姿、稀疏点云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44195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DEM / DSM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双目视差、点云插值、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栅格化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图层、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ASCII/GeoTIFF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导出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44195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正射校正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利用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DEM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和相机模型进行投影校正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正射影像、精度说明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44195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三维展示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点云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/Mesh/DEM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叠加影像纹理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可交互三维窗口或外部浏览文件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44195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三维高斯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/NeRF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尝试调用现成工具生成新型三维表达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演示视频、模型链接、技术报告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441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打包安装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打包可安装卸载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提供安装包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</a:rPr>
              <a:t>八、工程规范与代码约束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90600" y="1651000"/>
            <a:ext cx="3492500" cy="1524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命名与目录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include/rs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放头文件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src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放实现文件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类名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PascalCase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，函数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camelCase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一个模块一个清晰职责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89500" y="1651000"/>
            <a:ext cx="3492500" cy="1524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接口与扩展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新算法继承统一接口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参数使用结构体或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Dialog
• IO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与算法不要写进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MainWindow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避免重复代码和全局变量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90600" y="3619500"/>
            <a:ext cx="3492500" cy="1524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异常与日志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文件读取失败要抛异常或返回错误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UI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层弹窗提示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关键流程写入日志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崩溃后能定位最后步骤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89500" y="3619500"/>
            <a:ext cx="3492500" cy="1524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构建与依赖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CMake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管理项目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Qt/GDAL/OpenCV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README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写清运行方法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鼓励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Git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提交记录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</a:rPr>
              <a:t>九、评分标准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041400" y="1778000"/>
          <a:ext cx="7747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889000"/>
                <a:gridCol w="5334000"/>
              </a:tblGrid>
              <a:tr h="59817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评分项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分值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优秀标准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</a:tr>
              <a:tr h="59817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+mn-ea"/>
                        </a:rPr>
                        <a:t>系统功能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基础流程完整，能加载真实遥感数据并完成可视化与处理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9817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C++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设计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继承、多态、模板、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STL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、异常、智能指针使用合理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9817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工程结构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模块边界清楚，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UI/IO/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算法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数据模型分离，便于扩展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9817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算法质量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算法有参数、有解释、有结果验证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9817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界面与交互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图层、日志、参数窗口、二维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三维浏览体验清晰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9817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文档与展示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设计文档完整，演示流畅，能说明分工与难点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</a:rPr>
              <a:t>十、提交要求与命名规范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16000" y="1714500"/>
            <a:ext cx="3492500" cy="1714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工程文件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Qt/C++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工程源码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CMakeLists.txt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Qt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工程文件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include/src/docs/data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示例目录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不提交无关缓存和巨大中间文件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89500" y="1714500"/>
            <a:ext cx="3492500" cy="1714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文档材料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设计报告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PDF/Word
• UML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或模块结构图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核心算法说明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测试数据与运行截图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16000" y="3937000"/>
            <a:ext cx="3492500" cy="1333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演示材料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课堂演示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PPT
• 3-5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分钟功能演示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说明个人分工与贡献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89500" y="3937000"/>
            <a:ext cx="3492500" cy="1333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命名建议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小组编号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01-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02-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03.zip
• README.md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写清编译运行方式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第三方库版本写清楚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547495" y="1952625"/>
            <a:ext cx="6328410" cy="250698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noAutofit/>
          </a:bodyPr>
          <a:p>
            <a:pPr algn="l"/>
            <a:r>
              <a:rPr lang="zh-CN" altLang="zh-CN" sz="190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大作业设计</a:t>
            </a:r>
            <a:r>
              <a:rPr lang="en-US" altLang="zh-CN" sz="190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190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190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</a:rPr>
              <a:t>十一、推荐分工与开发节奏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041400" y="1714500"/>
          <a:ext cx="77470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3556000"/>
                <a:gridCol w="2540000"/>
              </a:tblGrid>
              <a:tr h="58420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角色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主要任务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交付物</a:t>
                      </a:r>
                      <a:endParaRPr lang="zh-CN" altLang="en-US"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100" marR="38100" marT="25400" marB="25400">
                    <a:solidFill>
                      <a:srgbClr val="151515"/>
                    </a:solidFill>
                  </a:tcPr>
                </a:tc>
              </a:tr>
              <a:tr h="58420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组长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架构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模块划分、接口设计、进度管理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类图、目录结构、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README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8420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数据与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IO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GDAL/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点云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/Mesh/DEM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读取与数据模型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RasterIO/DataIO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模块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算法实现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影像处理、特征提取、分类或三维重建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算法类、参数窗口、结果图层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DFBF4"/>
                    </a:solidFill>
                  </a:tcPr>
                </a:tc>
              </a:tr>
              <a:tr h="584200"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界面与展示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Qt 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界面、图层树、二维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三维交互、日志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可运行软件、演示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PPT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、文档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</a:rPr>
              <a:t>十二、可用数据源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6000" y="1714500"/>
            <a:ext cx="3492500" cy="1841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遥感影像数据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GeoTIFF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多波段样例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Sentinel-2 / Landsat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开源数据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高分影像可自行寻找合法样例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注意记录数据来源与坐标信息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89500" y="1714500"/>
            <a:ext cx="3492500" cy="18415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三维与摄影测量数据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无人机视频关键帧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稀疏点云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稠密点云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OBJ/PLY Mesh
• DEM/DSM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栅格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6000" y="3860800"/>
            <a:ext cx="7429500" cy="5378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可使用本地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OpenRemoteSensing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样例测试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GDAL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多波段加载，也可使用武汉大学樱顶老图书馆数据测试点云、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Mesh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和三维显示。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7745" y="4725035"/>
            <a:ext cx="7323455" cy="698500"/>
          </a:xfrm>
          <a:prstGeom prst="rect">
            <a:avLst/>
          </a:prstGeom>
          <a:solidFill>
            <a:srgbClr val="EAF7FA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选用外部数据时，请在文档中写明数据来源、格式、分辨率、波段含义和是否进行过裁剪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预处理。</a:t>
            </a:r>
            <a:endParaRPr lang="zh-CN" altLang="en-US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遥感影像处理与三维重建系统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83540"/>
          </a:xfrm>
          <a:prstGeom prst="rect">
            <a:avLst/>
          </a:prstGeom>
        </p:spPr>
        <p:txBody>
          <a:bodyPr wrap="square" lIns="63500" tIns="38100" rIns="63500" bIns="38100" anchor="t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供参考的真实数据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1041400"/>
            <a:ext cx="762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2000" b="1">
                <a:solidFill>
                  <a:srgbClr val="8F6F2F"/>
                </a:solidFill>
                <a:latin typeface="微软雅黑" panose="020B0503020204020204" charset="-122"/>
                <a:ea typeface="微软雅黑" panose="020B0503020204020204" charset="-122"/>
              </a:rPr>
              <a:t>十三、武汉大学樱顶老图书馆数据</a:t>
            </a:r>
            <a:endParaRPr lang="zh-CN" altLang="en-US" sz="2000" b="1">
              <a:solidFill>
                <a:srgbClr val="8F6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9500" y="1714500"/>
            <a:ext cx="7556500" cy="5683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zh-CN" altLang="en-US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</a:t>
            </a:r>
            <a:r>
              <a:rPr lang="en-US" alt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https://pan.baidu.com/s/1kQuK3a7pTvOK-Cqax1G1vg
</a:t>
            </a:r>
            <a:r>
              <a:rPr lang="zh-CN" altLang="en-US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提取码</a:t>
            </a:r>
            <a:r>
              <a:rPr lang="en-US" alt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7c6m</a:t>
            </a:r>
            <a:endParaRPr lang="en-US" altLang="zh-CN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000" y="3111500"/>
            <a:ext cx="3175000" cy="1905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数据内容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Videos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：无人机视频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Keyframes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：图像关键帧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SparseModel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SfM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稀疏模型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DenseModel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：稠密点云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26000" y="3111500"/>
            <a:ext cx="3175000" cy="1905000"/>
          </a:xfrm>
          <a:prstGeom prst="rect">
            <a:avLst/>
          </a:prstGeom>
          <a:solidFill>
            <a:srgbClr val="F3FBFF">
              <a:alpha val="92000"/>
            </a:srgbClr>
          </a:solidFill>
          <a:ln w="15240">
            <a:solidFill>
              <a:srgbClr val="8EC5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3500" tIns="38100" rIns="63500" bIns="38100" rtlCol="0" anchor="t"/>
          <a:p>
            <a:pPr algn="l"/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可选扩展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TextureModel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：纹理模型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3DGSModel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：三维高斯模型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•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</a:t>
            </a:r>
            <a:r>
              <a:rPr lang="en-US" alt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CloudCompare / MeshLab / superspl.at </a:t>
            </a:r>
            <a:r>
              <a:rPr lang="zh-CN" alt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</a:t>
            </a:r>
            <a:endParaRPr lang="zh-CN" altLang="en-US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小组作业设计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-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遥感影像处理与三维重建系统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9500" y="1664970"/>
            <a:ext cx="7118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/>
              <a:t>Deadline</a:t>
            </a:r>
            <a:r>
              <a:rPr lang="zh-CN" altLang="en-US" sz="3200" b="1"/>
              <a:t>：</a:t>
            </a:r>
            <a:r>
              <a:rPr lang="en-US" altLang="zh-CN" sz="3200" b="1"/>
              <a:t>2026</a:t>
            </a:r>
            <a:r>
              <a:rPr lang="zh-CN" altLang="en-US" sz="3200" b="1"/>
              <a:t>年</a:t>
            </a:r>
            <a:r>
              <a:rPr lang="en-US" altLang="zh-CN" sz="3200" b="1"/>
              <a:t>6</a:t>
            </a:r>
            <a:r>
              <a:rPr lang="zh-CN" altLang="en-US" sz="3200" b="1"/>
              <a:t>月</a:t>
            </a:r>
            <a:r>
              <a:rPr lang="en-US" altLang="zh-CN" sz="3200" b="1"/>
              <a:t>21</a:t>
            </a:r>
            <a:r>
              <a:rPr lang="zh-CN" altLang="en-US" sz="3200" b="1"/>
              <a:t>日（周日）</a:t>
            </a:r>
            <a:endParaRPr lang="zh-CN" altLang="en-US" sz="3200" b="1"/>
          </a:p>
        </p:txBody>
      </p:sp>
      <p:sp>
        <p:nvSpPr>
          <p:cNvPr id="5" name="文本框 4"/>
          <p:cNvSpPr txBox="1"/>
          <p:nvPr/>
        </p:nvSpPr>
        <p:spPr>
          <a:xfrm>
            <a:off x="1043305" y="2962275"/>
            <a:ext cx="700087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选课人数：</a:t>
            </a:r>
            <a:r>
              <a:rPr lang="en-US" altLang="zh-CN"/>
              <a:t>57</a:t>
            </a:r>
            <a:r>
              <a:rPr lang="zh-CN" altLang="en-US"/>
              <a:t>人（分成</a:t>
            </a:r>
            <a:r>
              <a:rPr lang="en-US" altLang="zh-CN"/>
              <a:t>15</a:t>
            </a:r>
            <a:r>
              <a:rPr lang="zh-CN" altLang="en-US"/>
              <a:t>小组）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打包成</a:t>
            </a:r>
            <a:r>
              <a:rPr lang="en-US" altLang="zh-CN"/>
              <a:t>.zip</a:t>
            </a:r>
            <a:r>
              <a:rPr lang="zh-CN" altLang="en-US"/>
              <a:t>压缩包，命名规范：</a:t>
            </a:r>
            <a:r>
              <a:rPr lang="zh-CN" altLang="en-US">
                <a:sym typeface="+mn-ea"/>
              </a:rPr>
              <a:t>小组编号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姓名</a:t>
            </a:r>
            <a:r>
              <a:rPr lang="en-US" altLang="zh-CN">
                <a:sym typeface="+mn-ea"/>
              </a:rPr>
              <a:t>01-</a:t>
            </a:r>
            <a:r>
              <a:rPr lang="zh-CN" altLang="en-US">
                <a:sym typeface="+mn-ea"/>
              </a:rPr>
              <a:t>姓名</a:t>
            </a:r>
            <a:r>
              <a:rPr lang="en-US" altLang="zh-CN">
                <a:sym typeface="+mn-ea"/>
              </a:rPr>
              <a:t>02-</a:t>
            </a:r>
            <a:r>
              <a:rPr lang="zh-CN" altLang="en-US">
                <a:sym typeface="+mn-ea"/>
              </a:rPr>
              <a:t>姓名</a:t>
            </a:r>
            <a:r>
              <a:rPr lang="en-US" altLang="zh-CN">
                <a:sym typeface="+mn-ea"/>
              </a:rPr>
              <a:t>03</a:t>
            </a:r>
            <a:r>
              <a:rPr lang="en-US" altLang="zh-CN"/>
              <a:t>.zip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发送邮箱：</a:t>
            </a:r>
            <a:r>
              <a:rPr lang="en-US" altLang="zh-CN"/>
              <a:t>83341656@qq.com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邮件主题：小组编号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姓名</a:t>
            </a:r>
            <a:r>
              <a:rPr lang="en-US" altLang="zh-CN">
                <a:sym typeface="+mn-ea"/>
              </a:rPr>
              <a:t>01-</a:t>
            </a:r>
            <a:r>
              <a:rPr lang="zh-CN" altLang="en-US">
                <a:sym typeface="+mn-ea"/>
              </a:rPr>
              <a:t>姓名</a:t>
            </a:r>
            <a:r>
              <a:rPr lang="en-US" altLang="zh-CN">
                <a:sym typeface="+mn-ea"/>
              </a:rPr>
              <a:t>02-</a:t>
            </a:r>
            <a:r>
              <a:rPr lang="zh-CN" altLang="en-US">
                <a:sym typeface="+mn-ea"/>
              </a:rPr>
              <a:t>姓名</a:t>
            </a:r>
            <a:r>
              <a:rPr lang="en-US" altLang="zh-CN">
                <a:sym typeface="+mn-ea"/>
              </a:rPr>
              <a:t>03</a:t>
            </a:r>
            <a:r>
              <a:rPr lang="zh-CN" altLang="en-US">
                <a:sym typeface="+mn-ea"/>
              </a:rPr>
              <a:t>（</a:t>
            </a:r>
            <a:r>
              <a:rPr lang="zh-CN" altLang="en-US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遥感影响处理与三维重建系统）</a:t>
            </a:r>
            <a:br>
              <a:rPr lang="zh-CN" altLang="en-US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b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注意：请备份好自己的作业，不要删除。</a:t>
            </a:r>
            <a:endParaRPr lang="zh-CN" altLang="en-US" b="1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4109</Words>
  <Application>WPS 演示</Application>
  <PresentationFormat>全屏显示(4:3)</PresentationFormat>
  <Paragraphs>368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WHU RSGIS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C++ 面向对象编程教程</dc:title>
  <dc:creator>DuanYanSong</dc:creator>
  <cp:lastModifiedBy>姚剑</cp:lastModifiedBy>
  <cp:revision>232</cp:revision>
  <dcterms:created xsi:type="dcterms:W3CDTF">2013-03-05T11:10:00Z</dcterms:created>
  <dcterms:modified xsi:type="dcterms:W3CDTF">2026-05-28T00:04:12Z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9F8A192A72FB415998EFB21B2FF8B7C0_12</vt:lpwstr>
  </property>
</Properties>
</file>